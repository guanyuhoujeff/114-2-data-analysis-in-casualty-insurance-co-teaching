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4480B"/>
                </a:solidFill>
                <a:latin typeface="Noto Sans TC"/>
              </a:defRPr>
            </a:pPr>
            <a:r>
              <a:t>NKUST × 喬泰科技 — 協作教學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1A"/>
                </a:solidFill>
                <a:latin typeface="Noto Sans TC"/>
              </a:defRPr>
            </a:pPr>
            <a:r>
              <a:t>產險資料分析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B6B6B"/>
                </a:solidFill>
                <a:latin typeface="Noto Sans TC"/>
              </a:defRPr>
            </a:pPr>
            <a:r>
              <a:t>從 0 到 1 的車險理賠預測實戰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6B6B"/>
                </a:solidFill>
                <a:latin typeface="Noto Sans TC"/>
              </a:defRPr>
            </a:pPr>
            <a:r>
              <a:t>侯冠宇 / 2025.04.09 / 郭訓志教授課程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1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AI 壓縮了寫程式的門檻，但提高了「判斷力」的價值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[Reuters 2025]</a:t>
            </a:r>
            <a:br/>
            <a:r>
              <a:t>Coding bootcamp 招生萎縮 —— AI 正在取代入門級程式工作 美國學生湧向的新熱門： 不是純 CS，而是 AI &amp; Decision-Making AI 沒有殺死商管，是逼商管升級 —— 整合資料與判斷的人價值上升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84319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[Reuters 2025]</a:t>
            </a:r>
            <a:br/>
            <a:r>
              <a:t>Coding bootcamp 招生萎縮 —— AI 正在取代入門級程式工作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18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[New York Times 2025]</a:t>
            </a:r>
            <a:br/>
            <a:r>
              <a:t>美國學生湧向的新熱門： 不是純 CS，而是 AI &amp; Decision-Making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[The Hill 2025]</a:t>
            </a:r>
            <a:br/>
            <a:r>
              <a:t>AI 沒有殺死商管，是逼商管升級 —— 整合資料與判斷的人價值上升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480B"/>
                </a:solidFill>
                <a:latin typeface="Noto Sans TC"/>
              </a:defRPr>
            </a:pPr>
            <a:r>
              <a:t>「程式 AI 會寫，但「這個客戶該不該加費 30%」這個決策，AI 做不了」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侯冠宇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[Current]</a:t>
            </a:r>
            <a:br/>
            <a:r>
              <a:t>AI 系統架構師</a:t>
            </a:r>
            <a:br/>
            <a:r>
              <a:t>喬泰科技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84319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[Academic]</a:t>
            </a:r>
            <a:br/>
            <a:r>
              <a:t>博士研究生</a:t>
            </a:r>
            <a:br/>
            <a:r>
              <a:t>國立高雄科技大學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18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[Focus]</a:t>
            </a:r>
            <a:br/>
            <a:r>
              <a:t>金融科技 × 人工智慧</a:t>
            </a:r>
            <a:br/>
            <a:r>
              <a:t>機器學習、風險建模、自然語言處理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2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資料科學，其實你每天都在用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9875520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保險版本： Netflix 猜錯頂多看一部爛片；保險公司猜錯，可能賠到脫褲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3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今天的淘金任務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6B6B"/>
                </a:solidFill>
                <a:latin typeface="Noto Sans TC"/>
              </a:defRPr>
            </a:pPr>
            <a:r>
              <a:t>10,000 筆車險資料，找出誰會理賠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3169919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10,000 個客戶，19 個欄位，1 個問題： 這個人會不會出險？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84319" y="2057400"/>
            <a:ext cx="3169919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你的工具： AI（不用寫程式）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37118" y="2057400"/>
            <a:ext cx="3169919" cy="109728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你的武器： 商業判斷力（AI 沒有的）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4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今天的三堂課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9875520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全程不寫程式碼 — 你不需要會寫程式，但你需要懂概念。AI 負責執行，你負責判斷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5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480B"/>
                </a:solidFill>
                <a:latin typeface="Noto Sans TC"/>
              </a:defRPr>
            </a:pPr>
            <a:r>
              <a:t>Part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Noto Sans TC"/>
              </a:defRPr>
            </a:pPr>
            <a: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Noto Sans TC"/>
              </a:defRPr>
            </a:pPr>
            <a:r>
              <a:t>不認識資料就建模，跟不看地圖就開車一樣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Noto Sans TC"/>
              </a:defRPr>
            </a:pPr>
            <a:r>
              <a:t>8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EDA 三大陷阱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169919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1. 只看平均數不看分佈</a:t>
            </a:r>
            <a:br/>
            <a:r>
              <a:t>你跟馬雲的平均資產幾百億，但你口袋只有兩百塊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84319" y="1554480"/>
            <a:ext cx="3169919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2. 忽略缺失值</a:t>
            </a:r>
            <a:br/>
            <a:r>
              <a:t>模型不報錯，但結果是錯的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18" y="1554480"/>
            <a:ext cx="3169919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3. 相關 ≠ 因果</a:t>
            </a:r>
            <a:br/>
            <a:r>
              <a:t>冰淇淋 ↑ 溺水 ↑ —— 兇手是夏天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9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Vibe Coding — 用中文寫程式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[免費]</a:t>
            </a:r>
            <a:br/>
            <a:r>
              <a:t>零成本</a:t>
            </a:r>
            <a:br/>
            <a:r>
              <a:t>Google 帳號登入即可 不用裝 Python、不用 Anaconda 用自然語言下指令，AI 幫你寫 Python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84319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[免費]</a:t>
            </a:r>
            <a:br/>
            <a:r>
              <a:t>零成本</a:t>
            </a:r>
            <a:br/>
            <a:r>
              <a:t>Google 帳號登入即可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18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[免安裝]</a:t>
            </a:r>
            <a:br/>
            <a:r>
              <a:t>瀏覽器開啟</a:t>
            </a:r>
            <a:br/>
            <a:r>
              <a:t>不用裝 Python、不用 Anaconda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[中文]</a:t>
            </a:r>
            <a:br/>
            <a:r>
              <a:t>對話式操作</a:t>
            </a:r>
            <a:br/>
            <a:r>
              <a:t>用自然語言下指令，AI 幫你寫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480B"/>
                </a:solidFill>
                <a:latin typeface="Noto Sans TC"/>
              </a:defRPr>
            </a:pPr>
            <a:r>
              <a:t>「你只要會打中文，就能做資料分析 — Google Antigravity」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6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AI 驗證二原則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[01]</a:t>
            </a:r>
            <a:br/>
            <a:r>
              <a:t>AI 會犯錯</a:t>
            </a:r>
            <a:br/>
            <a:r>
              <a:t>程式碼可能有 bug，統計解讀可能講得很專業但數字是亂掰的 挑一個數字用計算機算、檢查軸標籤、回想統計原理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84319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[01]</a:t>
            </a:r>
            <a:br/>
            <a:r>
              <a:t>AI 會犯錯</a:t>
            </a:r>
            <a:br/>
            <a:r>
              <a:t>程式碼可能有 bug，統計解讀可能講得很專業但數字是亂掰的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18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[02]</a:t>
            </a:r>
            <a:br/>
            <a:r>
              <a:t>怎麼驗證</a:t>
            </a:r>
            <a:br/>
            <a:r>
              <a:t>挑一個數字用計算機算、檢查軸標籤、回想統計原理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7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10,000 個車主，你能找出誰會出險嗎？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0584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你知道什麼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舉例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這個人是誰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年齡、性別、學歷、收入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他怎麼開車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駕齡、超速幾次、酒駕紀錄、過去事故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他的車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自有或租賃、車齡、年行駛里程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你要猜的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這個人會不會申請理賠？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10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資料載入與清理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載入 請讀取 Car_Insurance_Claim.csv，印出前 5 筆和 shape → 先看資料長什麼樣，別盲做</a:t>
            </a:r>
          </a:p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發現缺失 檢查哪些欄位有缺失值，列出缺失數量和百分比 → EDA 陷阱 #2：忽略缺失值</a:t>
            </a:r>
          </a:p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處理 （中位數比平均數穩健，不怕極端值） CREDIT_SCORE 用年齡層中位數填補，ANNUAL_MILEAGE 刪除缺失列 → 中位數不怕極端值；里程缺太少，刪比猜更誠實</a:t>
            </a:r>
          </a:p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驗證 再跑一次缺失值檢查，確認都是 0 → 永遠要 double check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515600" cy="457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1A1A1A"/>
                </a:solidFill>
                <a:latin typeface="Consolas"/>
              </a:defRPr>
            </a:pPr>
            <a:r>
              <a:t>請讀取 Car_Insurance_Claim.csv，印出前 5 筆和 shape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57400"/>
            <a:ext cx="10515600" cy="457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1A1A1A"/>
                </a:solidFill>
                <a:latin typeface="Consolas"/>
              </a:defRPr>
            </a:pPr>
            <a:r>
              <a:t>檢查哪些欄位有缺失值，列出缺失數量和百分比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15600" cy="457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1A1A1A"/>
                </a:solidFill>
                <a:latin typeface="Consolas"/>
              </a:defRPr>
            </a:pPr>
            <a:r>
              <a:t>CREDIT_SCORE 用年齡層中位數填補，ANNUAL_MILEAGE 刪除缺失列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10515600" cy="457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1A1A1A"/>
                </a:solidFill>
                <a:latin typeface="Consolas"/>
              </a:defRPr>
            </a:pPr>
            <a:r>
              <a:t>再跑一次缺失值檢查，確認都是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11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視覺化探索四連發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1. 資料的基本面貌長怎樣？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84319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2. 年輕人比較容易出險，還是老司機？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18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3. 新手和老手的開車習慣差多少？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4. 哪些變數跟理賠最相關？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12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交叉分組才有洞察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9875520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商業問題</a:t>
            </a:r>
            <a:br/>
            <a:r>
              <a:t>年輕人開新車，理賠率最高？ 特徵的「組合」比單一變數更有洞察力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13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480B"/>
                </a:solidFill>
                <a:latin typeface="Noto Sans TC"/>
              </a:defRPr>
            </a:pPr>
            <a:r>
              <a:t>Part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Noto Sans TC"/>
              </a:defRPr>
            </a:pPr>
            <a:r>
              <a:t>從「看到規律」 到「預測未來」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Noto Sans TC"/>
              </a:defRPr>
            </a:pPr>
            <a:r>
              <a:t>建立、評估、比較模型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Noto Sans TC"/>
              </a:defRPr>
            </a:pPr>
            <a:r>
              <a:t>14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Benchmark 思維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98755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[Baseline Model]</a:t>
            </a:r>
            <a:br/>
            <a:r>
              <a:t>Logistic Regression</a:t>
            </a:r>
            <a:br/>
            <a:r>
              <a:t>分類界的白飯 — 不花俏，但 穩定、能解釋、大家都懂 。 後面的模型如果只進步 2%，可能不值得用更複雜的方法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4480B"/>
                </a:solidFill>
                <a:latin typeface="Noto Sans TC"/>
              </a:defRPr>
            </a:pPr>
            <a:r>
              <a:t>「先煮好白飯，再挑戰炒飯」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15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帶做 Logistic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80% 拿來訓練，20% 留著驗證</a:t>
            </a:r>
          </a:p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看它猜對幾個、猜錯幾個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515600" cy="457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1A1A1A"/>
                </a:solidFill>
                <a:latin typeface="Consolas"/>
              </a:defRPr>
            </a:pPr>
            <a:r>
              <a:t>請將資料做 train/test split（80/20, random_state=42）， 類別欄位做 one-hot encoding，數值欄位做 StandardScaler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57400"/>
            <a:ext cx="10515600" cy="457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1A1A1A"/>
                </a:solidFill>
                <a:latin typeface="Consolas"/>
              </a:defRPr>
            </a:pPr>
            <a:r>
              <a:t>用 Logistic Regression 預測 OUTCOME， 印出迴歸係數表、classification report、 混淆矩陣（用 heatmap 畫出來）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16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解讀迴歸係數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05840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200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方向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白話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例子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正 (+)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這個特徵讓客戶更危險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超速次數多 → 理賠機率升高</a:t>
                      </a:r>
                    </a:p>
                  </a:txBody>
                  <a:tcPr/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負 (−)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這個特徵讓客戶更安全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駕齡越長 → 理賠機率降低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17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Accuracy 的騙局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Accuracy 不夠用</a:t>
            </a:r>
          </a:p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如果 85% 的人沒理賠，寫一個永遠猜「不理賠」的模型 accuracy 也是 85%。 就像氣象預報員每天說「不地震」— 準確率 99.99%，但完全沒用</a:t>
            </a:r>
          </a:p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所以我們需要更好的指標。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18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Key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混淆矩陣：漏網之魚最致命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05840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200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模型說：不會理賠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模型說：會理賠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真的沒理賠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✓ 猜對了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虛驚一場</a:t>
                      </a:r>
                    </a:p>
                  </a:txBody>
                  <a:tcPr/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真的有理賠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 漏掉了 —— 公司賠大錢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✓ 抓到了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2788919"/>
            <a:ext cx="9875520" cy="109728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產險結論：Recall &gt; Precision —— 寧可多查，不能漏掉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19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四大評估指標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0584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指標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白話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看矩陣哪裡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整體猜對比例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不適合不平衡資料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模型說「會理賠」的裡面，真的有幾個？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右邊那一欄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真的有理賠的人，模型抓到了幾個？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下面那一列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Precision &amp; Recall 的調和平均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綜合指標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3429000"/>
            <a:ext cx="9875520" cy="109728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產險結論：Recall &gt; Precision —— 寧可多查，不能漏掉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Model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Decision Tree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4846320" cy="109728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優點</a:t>
            </a:r>
            <a:br/>
            <a:r>
              <a:t>直覺好解釋 可以畫圖給不懂技術的主管看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554480"/>
            <a:ext cx="4846320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缺點</a:t>
            </a:r>
            <a:br/>
            <a:r>
              <a:t>容易過擬合 — 段考很高但模擬考爆炸，因為只會背不會活用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21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Model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Random Forest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4846320" cy="109728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優點</a:t>
            </a:r>
            <a:br/>
            <a:r>
              <a:t>穩定不易過擬合 可看特徵重要性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554480"/>
            <a:ext cx="4846320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缺點</a:t>
            </a:r>
            <a:br/>
            <a:r>
              <a:t>不好解釋單一預測 訓練較慢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22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Model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SVM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4846320" cy="109728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優點</a:t>
            </a:r>
            <a:br/>
            <a:r>
              <a:t>高維度表現好 分界線清楚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554480"/>
            <a:ext cx="4846320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缺點</a:t>
            </a:r>
            <a:br/>
            <a:r>
              <a:t>速度慢，資料量大時跑很久 黑箱 —— 沒辦法解釋「為什麼這樣分」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23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Model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XGBoost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4846320" cy="109728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優點</a:t>
            </a:r>
            <a:br/>
            <a:r>
              <a:t>通常最準、速度快 可算特徵重要性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554480"/>
            <a:ext cx="4846320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缺點</a:t>
            </a:r>
            <a:br/>
            <a:r>
              <a:t>參數很多，調不好反而更差 解釋性低 —— 很難跟主管說清楚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24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五大模型比較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0584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200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可解釋性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準確度潛力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訓練速度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過擬合風險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★★★★★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★★★★★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低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低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★★★★★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★★★★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3749039"/>
            <a:ext cx="9875520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準確度最高 ≠ 最好。 金管會問你「為什麼對這個客戶加費？」你說「100 棵樹投票的」— 金管會：？？？ 可解釋性是產險的剛需 ，這也是 Logistic Regression 至今仍是精算主流的原因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25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480B"/>
                </a:solidFill>
                <a:latin typeface="Noto Sans TC"/>
              </a:defRPr>
            </a:pPr>
            <a:r>
              <a:t>Part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Noto Sans TC"/>
              </a:defRPr>
            </a:pPr>
            <a:r>
              <a:t>輪到你們上場了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Noto Sans TC"/>
              </a:defRPr>
            </a:pPr>
            <a:r>
              <a:t>白飯煮好了，換你們炒飯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Noto Sans TC"/>
              </a:defRPr>
            </a:pPr>
            <a:r>
              <a:t>26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你的任務：打敗白飯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1. 從四個模型裡挑一個你覺得最厲害的</a:t>
            </a:r>
            <a:br/>
            <a:r>
              <a:t>Decision Tree / Random Forest / SVM / XGBoost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84319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2. 用 Vibe Coding 讓 AI 幫你跑，跟 LR 比較誰猜得準</a:t>
            </a:r>
            <a:br/>
            <a:r>
              <a:t>用相同資料、相同切分（random_state = 42），比較四大指標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18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3. 如果你的模型贏了 — 恭喜；如果沒贏 — 那也是一個發現</a:t>
            </a:r>
            <a:br/>
            <a:r>
              <a:t>重點不是贏，是你能說出為什麼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27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Prompt Templates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Prompt 範本（直接複製貼上）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→ SVM 無法直接算特徵重要性，這是它「黑箱」的代價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515600" cy="457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1A1A1A"/>
                </a:solidFill>
                <a:latin typeface="Consolas"/>
              </a:defRPr>
            </a:pPr>
            <a:r>
              <a:t>用 Decision Tree（max_depth=5, random_state=42）預測 OUTCOME。 印出 classification report、混淆矩陣 heatmap、特徵重要性前 10。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57400"/>
            <a:ext cx="10515600" cy="457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1A1A1A"/>
                </a:solidFill>
                <a:latin typeface="Consolas"/>
              </a:defRPr>
            </a:pPr>
            <a:r>
              <a:t>用 Random Forest（n_estimators=100, random_state=42）預測 OUTCOME。 印出 classification report、混淆矩陣 heatmap、特徵重要性前 10。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515600" cy="457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1A1A1A"/>
                </a:solidFill>
                <a:latin typeface="Consolas"/>
              </a:defRPr>
            </a:pPr>
            <a:r>
              <a:t>用 SVM（kernel='rbf', random_state=42）預測 OUTCOME。 印出 classification report、混淆矩陣 heatmap。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10515600" cy="4572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1A1A1A"/>
                </a:solidFill>
                <a:latin typeface="Consolas"/>
              </a:defRPr>
            </a:pPr>
            <a:r>
              <a:t>用 XGBoost（n_estimators=100, max_depth=5, learning_rate=0.1, random_state=42）預測 OUTCOME。 印出 classification report、混淆矩陣 heatmap、特徵重要性前 10。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28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精算洞察報告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模型選擇</a:t>
            </a:r>
            <a:br/>
            <a:r>
              <a:t>用了哪個模型？為什麼選它？ 找出 2-3 個關鍵風險因子 哪些人最容易理賠？ 具體的定價策略建議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84319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模型選擇</a:t>
            </a:r>
            <a:br/>
            <a:r>
              <a:t>用了哪個模型？為什麼選它？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18" y="155448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風險因子</a:t>
            </a:r>
            <a:br/>
            <a:r>
              <a:t>找出 2-3 個關鍵風險因子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高風險客群</a:t>
            </a:r>
            <a:br/>
            <a:r>
              <a:t>哪些人最容易理賠？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84319" y="2788920"/>
            <a:ext cx="3169919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保費建議</a:t>
            </a:r>
            <a:br/>
            <a:r>
              <a:t>具體的定價策略建議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37118" y="2788920"/>
            <a:ext cx="3169919" cy="1097280"/>
          </a:xfrm>
          <a:prstGeom prst="roundRect">
            <a:avLst/>
          </a:prstGeom>
          <a:solidFill>
            <a:srgbClr val="FFF0E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100">
                <a:solidFill>
                  <a:srgbClr val="1A1A1A"/>
                </a:solidFill>
                <a:latin typeface="Noto Sans TC"/>
              </a:defRPr>
            </a:pPr>
            <a:r>
              <a:t>不能用 confusion matrix 跟老闆報告 — 要翻譯成人話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報告範例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0584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模型跑出來的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翻譯成人話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Recall = 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每 100 個會理賠的客戶，我們能抓到 78 個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特徵重要性 #1: SPEEDING_VIOLATIONS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超速紀錄是最強的風險信號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16-25 歲 × 超速 → 理賠率 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年輕 + 超速 = 高風險客群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→ 報告結論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建議調高該客群保費 30%，理賠率 75% 遠高於平均 20%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Ethics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公平待客原則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05840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200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技術事實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Noto Sans TC"/>
                        </a:defRPr>
                      </a:pPr>
                      <a:r>
                        <a:t>但你不能這樣做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模型說：某族群理賠率高 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用族群定價 = 保險歧視，金管會罰錢</a:t>
                      </a:r>
                    </a:p>
                  </a:txBody>
                  <a:tcPr/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GENDER 放進模型，準確度 +1.5%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latin typeface="Noto Sans TC"/>
                        </a:defRPr>
                      </a:pPr>
                      <a:r>
                        <a:t>多 1.5% 的準確度，換一張裁罰公告，值得嗎？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三堂課總回顧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跳過 EDA 直接建模，就像不看地圖就開車 — 你可能到，但更可能迷路</a:t>
            </a:r>
          </a:p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先有 Benchmark，再挑戰進階模型。產險場景 Recall &gt; Accuracy</a:t>
            </a:r>
          </a:p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把分析翻譯成人話，考慮公平性。模型只是工具，決策靠人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480B"/>
                </a:solidFill>
                <a:latin typeface="Noto Sans TC"/>
              </a:defRPr>
            </a:pPr>
            <a:r>
              <a:t>Core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Noto Sans TC"/>
              </a:defRPr>
            </a:pPr>
            <a:r>
              <a:t>概念是你的， AI 只是幫你執行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用 AI 完成一份完整的 EDA 和模型分析</a:t>
            </a:r>
          </a:p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知道五種模型的 trade-off，能判斷哪個適合產險</a:t>
            </a:r>
          </a:p>
          <a:p>
            <a:pPr>
              <a:spcAft>
                <a:spcPts val="600"/>
              </a:spcAft>
              <a:defRPr sz="1300">
                <a:solidFill>
                  <a:srgbClr val="6B6B6B"/>
                </a:solidFill>
                <a:latin typeface="Noto Sans TC"/>
              </a:defRPr>
            </a:pPr>
            <a:r>
              <a:t>• 能把分析結果翻譯成老闆聽得懂的話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6B6B"/>
                </a:solidFill>
                <a:latin typeface="Noto Sans TC"/>
              </a:defRPr>
            </a:pPr>
            <a:r>
              <a:t>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Noto Sans TC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91440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Noto Sans TC"/>
              </a:defRPr>
            </a:pPr>
            <a:r>
              <a:t>今天願意花三小時動手做分析的人， 未來不會被 AI 取代。 期待看到你們的作品。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6217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Noto Sans TC"/>
              </a:defRPr>
            </a:pPr>
            <a:r>
              <a:t>35 /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