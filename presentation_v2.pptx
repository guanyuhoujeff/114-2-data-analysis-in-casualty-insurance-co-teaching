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480B"/>
                </a:solidFill>
                <a:latin typeface="Noto Sans TC"/>
              </a:defRPr>
            </a:pPr>
            <a:r>
              <a:t>NKUST × 喬泰科技 — 協作教學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Noto Sans TC"/>
              </a:defRPr>
            </a:pPr>
            <a:r>
              <a:t>產險資料分析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6B6B"/>
                </a:solidFill>
                <a:latin typeface="Noto Sans TC"/>
              </a:defRPr>
            </a:pPr>
            <a:r>
              <a:t>從 0 到 1 的車險理賠預測實戰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Noto Sans TC"/>
              </a:defRPr>
            </a:pPr>
            <a:r>
              <a:t>侯冠宇 / 2025.04.09 / 郭訓志教授課程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侯冠宇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[Current]</a:t>
            </a:r>
            <a:br/>
            <a:r>
              <a:t>AI 系統架構師</a:t>
            </a:r>
            <a:br/>
            <a:r>
              <a:t>喬泰科技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[Academic]</a:t>
            </a:r>
            <a:br/>
            <a:r>
              <a:t>博士研究生</a:t>
            </a:r>
            <a:br/>
            <a:r>
              <a:t>國立高雄科技大學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[Focus]</a:t>
            </a:r>
            <a:br/>
            <a:r>
              <a:t>金融科技 × 人工智慧</a:t>
            </a:r>
            <a:br/>
            <a:r>
              <a:t>機器學習、風險建模、自然語言處理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資料科學，其實你每天都在用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98755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保險版本： Netflix 猜錯頂多看一部爛片；保險公司猜錯，可能賠到脫褲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資料探勘 = 淘金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蝦皮的金子： 買手機殼的人 60% 也買螢幕貼 → 一起推薦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保險的金子： 「年輕 + 超速 + 跑車 = 高風險」→ 加費！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今天的任務： 從一萬筆車險客戶資料裡面淘金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今天的三堂課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98755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全程不寫程式碼 — 你不需要會寫程式，但你需要懂概念。AI 負責執行，你負責判斷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Vibe Coding — 用中文寫程式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[免費]</a:t>
            </a:r>
            <a:br/>
            <a:r>
              <a:t>零成本</a:t>
            </a:r>
            <a:br/>
            <a:r>
              <a:t>Google 帳號登入即可 不用裝 Python、不用 Anaconda 用自然語言下指令，AI 幫你寫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[免費]</a:t>
            </a:r>
            <a:br/>
            <a:r>
              <a:t>零成本</a:t>
            </a:r>
            <a:br/>
            <a:r>
              <a:t>Google 帳號登入即可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[免安裝]</a:t>
            </a:r>
            <a:br/>
            <a:r>
              <a:t>瀏覽器開啟</a:t>
            </a:r>
            <a:br/>
            <a:r>
              <a:t>不用裝 Python、不用 Anaconda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[中文]</a:t>
            </a:r>
            <a:br/>
            <a:r>
              <a:t>對話式操作</a:t>
            </a:r>
            <a:br/>
            <a:r>
              <a:t>用自然語言下指令，AI 幫你寫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480B"/>
                </a:solidFill>
                <a:latin typeface="Noto Sans TC"/>
              </a:defRPr>
            </a:pPr>
            <a:r>
              <a:t>「你只要會打中文，就能做資料分析 — Google Antigravity」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AI 驗證三原則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[01]</a:t>
            </a:r>
            <a:br/>
            <a:r>
              <a:t>AI 會犯錯</a:t>
            </a:r>
            <a:br/>
            <a:r>
              <a:t>程式碼可能有 bug，統計解讀可能講得很專業但數字是亂掰的 挑一個數字用計算機算、檢查軸標籤、回想統計原理 你可以用 AI 加速，但你要能解釋每一個結果。 不懂就不算你的分析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[01]</a:t>
            </a:r>
            <a:br/>
            <a:r>
              <a:t>AI 會犯錯</a:t>
            </a:r>
            <a:br/>
            <a:r>
              <a:t>程式碼可能有 bug，統計解讀可能講得很專業但數字是亂掰的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[02]</a:t>
            </a:r>
            <a:br/>
            <a:r>
              <a:t>怎麼驗證</a:t>
            </a:r>
            <a:br/>
            <a:r>
              <a:t>挑一個數字用計算機算、檢查軸標籤、回想統計原理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[03]</a:t>
            </a:r>
            <a:br/>
            <a:r>
              <a:t>學術誠信</a:t>
            </a:r>
            <a:br/>
            <a:r>
              <a:t>你可以用 AI 加速，但你要能解釋每一個結果。 不懂就不算你的分析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480B"/>
                </a:solidFill>
                <a:latin typeface="Noto Sans TC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TC"/>
              </a:defRPr>
            </a:pPr>
            <a: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Noto Sans TC"/>
              </a:defRPr>
            </a:pPr>
            <a:r>
              <a:t>在建模前先認識你的資料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Noto Sans TC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EDA 三大陷阱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1. 只看平均數不看分佈</a:t>
            </a:r>
            <a:br/>
            <a:r>
              <a:t>90% 的人理賠不到 1 萬，1% 的人理賠超過 500 萬，「平均 10 萬」是被拉上去的。 你跟馬雲的平均資產幾百億，但你口袋只有兩百塊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2. 忽略缺失值</a:t>
            </a:r>
            <a:br/>
            <a:r>
              <a:t>真實資料常有客戶漏填 — 不處理就直接建模？模型可能不報錯但結果是錯的， 你會帶著錯誤結論去跟老闆報告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3. 相關 ≠ 因果</a:t>
            </a:r>
            <a:br/>
            <a:r>
              <a:t>冰淇淋銷量 ↑ 溺水人數 ↑ — 不是冰淇淋害人溺水，是夏天。 看到兩個變數有關聯，不代表一個造成另一個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Kaggle Car Insurance Claim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058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類別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欄位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人口統計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AGE, GENDER, EDUCATION, INCOME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駕駛背景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DRIVING_EXPERIENCE, PAST_ACCIDENTS, SPEEDING_PENALTIES, DUIS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車輛屬性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VEHICLE_OWNERSHIP, VEHICLE_YEAR, ANNUAL_MILEAGE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預測目標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OUTCOME（0: 未理賠，1: 有理賠）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資料載入與清理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載入 請讀取 Car_Insurance_Claim.csv，印出前 5 筆和 shape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發現缺失 檢查哪些欄位有缺失值，列出缺失數量和百分比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處理 （中位數比平均數穩健，不怕極端值） CREDIT_SCORE 用年齡層中位數填補，ANNUAL_MILEAGE 刪除缺失列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驗證 再跑一次缺失值檢查，確認都是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請讀取 Car_Insurance_Claim.csv，印出前 5 筆和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檢查哪些欄位有缺失值，列出缺失數量和百分比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CREDIT_SCORE 用年齡層中位數填補，ANNUAL_MILEAGE 刪除缺失列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再跑一次缺失值檢查，確認都是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視覺化探索四連發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1. 描述統計表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2. 風險輪廓長條圖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3. 箱形圖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4. 相關性熱力圖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交叉分組才有洞察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98755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商業問題</a:t>
            </a:r>
            <a:br/>
            <a:r>
              <a:t>年輕人開新車，理賠率最高？ 特徵的「組合」比單一變數更有洞察力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480B"/>
                </a:solidFill>
                <a:latin typeface="Noto Sans TC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TC"/>
              </a:defRPr>
            </a:pPr>
            <a:r>
              <a:t>從「看到規律」 到「預測未來」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Noto Sans TC"/>
              </a:defRPr>
            </a:pPr>
            <a:r>
              <a:t>建立、評估、比較模型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Noto Sans TC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Benchmark 思維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9875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[Baseline Model]</a:t>
            </a:r>
            <a:br/>
            <a:r>
              <a:t>Logistic Regression</a:t>
            </a:r>
            <a:br/>
            <a:r>
              <a:t>分類界的白飯 — 不花俏，但 穩定、能解釋、大家都懂 。 後面的模型如果只進步 2%，可能不值得用更複雜的方法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480B"/>
                </a:solidFill>
                <a:latin typeface="Noto Sans TC"/>
              </a:defRPr>
            </a:pPr>
            <a:r>
              <a:t>「先煮好白飯，再挑戰炒飯」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帶做 Logistic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請將資料做 train/test split（80/20, random_state=42）， 類別欄位做 one-hot encoding，數值欄位做 StandardScaler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用 Logistic Regression 預測 OUTCOME， 印出迴歸係數表、classification report、 混淆矩陣（用 heatmap 畫出來）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解讀迴歸係數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正係數 = 風險 ↑</a:t>
            </a:r>
            <a:br/>
            <a:r>
              <a:t>超速紀錄越多，理賠機率越高 例：SPEEDING_PENALTIES +0.45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負係數 = 風險 ↓</a:t>
            </a:r>
            <a:br/>
            <a:r>
              <a:t>駕齡越長，理賠機率越低 例：DRIVING_EXPERIENCE -0.32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p-value &lt; 0.05 = 統計顯著，這個變數真的有影響。有沒有你覺得應該重要、但 p-value 很大的變數？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Accuracy 的騙局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Accuracy</a:t>
            </a:r>
            <a:br/>
            <a:r>
              <a:t>整體猜對比例 不適合不平衡資料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Precision</a:t>
            </a:r>
            <a:br/>
            <a:r>
              <a:t>「說有理賠」的 裡面真的有幾個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Recall</a:t>
            </a:r>
            <a:br/>
            <a:r>
              <a:t>真正會理賠的 你抓到了幾個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F1-Score</a:t>
            </a:r>
            <a:br/>
            <a:r>
              <a:t>Precision &amp; Recall 的調和平均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混淆矩陣：漏網之魚最致命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98755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FP = 你以為他會理賠，結果沒有 — 虛驚一場，沒損失 FN = 你以為他不會理賠，結果出事了 — 公司賠大錢 產險結論： Recall &gt; Precision — 寧可多查，不能漏掉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480B"/>
                </a:solidFill>
                <a:latin typeface="Noto Sans TC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TC"/>
              </a:defRPr>
            </a:pPr>
            <a:r>
              <a:t>四大進階分類模型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Noto Sans TC"/>
              </a:defRPr>
            </a:pPr>
            <a:r>
              <a:t>挑戰 Logistic Regression 基準線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Noto Sans TC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Model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Decision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優點</a:t>
            </a:r>
            <a:br/>
            <a:r>
              <a:t>直覺好解釋 可以畫圖給不懂技術的主管看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554480"/>
            <a:ext cx="48463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缺點</a:t>
            </a:r>
            <a:br/>
            <a:r>
              <a:t>容易過擬合 — 段考很高但模擬考爆炸，因為只會背不會活用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Model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Random Forest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優點</a:t>
            </a:r>
            <a:br/>
            <a:r>
              <a:t>穩定不易過擬合 可看特徵重要性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554480"/>
            <a:ext cx="48463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缺點</a:t>
            </a:r>
            <a:br/>
            <a:r>
              <a:t>不好解釋單一預測 訓練較慢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Model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SVM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優點</a:t>
            </a:r>
            <a:br/>
            <a:r>
              <a:t>高維度表現好 邊界清晰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554480"/>
            <a:ext cx="48463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缺點</a:t>
            </a:r>
            <a:br/>
            <a:r>
              <a:t>速度慢、黑箱 需要標準化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Model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109728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優點</a:t>
            </a:r>
            <a:br/>
            <a:r>
              <a:t>通常最準、速度快 可算特徵重要性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554480"/>
            <a:ext cx="48463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缺點</a:t>
            </a:r>
            <a:br/>
            <a:r>
              <a:t>參數多要調（學習率、樹深度等），今天用 AI 幫你處理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五大模型比較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058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可解釋性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準確度潛力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訓練速度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過擬合風險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TC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749039"/>
            <a:ext cx="9875520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準確度最高 ≠ 最好。 金管會問你「為什麼對這個客戶加費？」你說「100 棵樹投票的」— 金管會：？？？ 可解釋性是產險的剛需 ，這也是 Logistic Regression 至今仍是精算主流的原因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480B"/>
                </a:solidFill>
                <a:latin typeface="Noto Sans TC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TC"/>
              </a:defRPr>
            </a:pPr>
            <a:r>
              <a:t>輪到你們上場了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Noto Sans TC"/>
              </a:defRPr>
            </a:pPr>
            <a:r>
              <a:t>動手挑戰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Noto Sans TC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實作任務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自選 ≥ 1 個進階模型</a:t>
            </a:r>
            <a:br/>
            <a:r>
              <a:t>Decision Tree / Random Forest / SVM / XGBoost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挑戰 LR Benchmark</a:t>
            </a:r>
            <a:br/>
            <a:r>
              <a:t>用相同資料、相同切分，比較四大指標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工具：Antigravity Vibe Coding</a:t>
            </a:r>
            <a:br/>
            <a:r>
              <a:t>用中文 Prompt 指揮 AI 幫你完成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Prompt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Prompt 範本（上）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用 Decision Tree（max_depth=5, random_state=42）預測 OUTCOME。 畫出混淆矩陣和 classification report， 再畫出特徵重要性排名前 10 的長條圖。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用 Random Forest（n_estimators=100, random_state=42）預測 OUTCOME。 印出 classification report 和混淆矩陣， 畫出特徵重要性排名。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Prompt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Prompt 範本（下）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用 SVM（kernel='rbf', random_state=42）預測 OUTCOME。 注意：SVM 需要做 StandardScaler 標準化。 印出 classification report 和混淆矩陣。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0515600" cy="457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00">
                <a:solidFill>
                  <a:srgbClr val="1A1A1A"/>
                </a:solidFill>
                <a:latin typeface="Consolas"/>
              </a:defRPr>
            </a:pPr>
            <a:r>
              <a:t>用 XGBoost（n_estimators=100, max_depth=5, learning_rate=0.1, random_state=42）預測 OUTCOME。 印出 classification report、混淆矩陣， 畫出 XGBoost 的特徵重要性排名。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精算洞察報告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模型選擇</a:t>
            </a:r>
            <a:br/>
            <a:r>
              <a:t>用了哪個模型？為什麼選它？ 找出 2-3 個關鍵風險因子 哪些人最容易理賠？ 具體的定價策略建議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模型選擇</a:t>
            </a:r>
            <a:br/>
            <a:r>
              <a:t>用了哪個模型？為什麼選它？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風險因子</a:t>
            </a:r>
            <a:br/>
            <a:r>
              <a:t>找出 2-3 個關鍵風險因子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高風險客群</a:t>
            </a:r>
            <a:br/>
            <a:r>
              <a:t>哪些人最容易理賠？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84319" y="278892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保費建議</a:t>
            </a:r>
            <a:br/>
            <a:r>
              <a:t>具體的定價策略建議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37118" y="278892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不能用 confusion matrix 跟老闆報告 — 要翻譯成人話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報告範例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高風險客群理賠率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整體平均理賠率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480B"/>
                </a:solidFill>
                <a:latin typeface="Noto Sans TC"/>
              </a:defRPr>
            </a:pPr>
            <a:r>
              <a:t>「「建議調高 16-25 歲且擁有超速紀錄駕駛的保費 30%，因理賠機率 75%，遠高於平均 20%」」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公平待客原則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[技術上做得到]</a:t>
            </a:r>
            <a:br/>
            <a:r>
              <a:t>模型顯示某族群風險高</a:t>
            </a:r>
            <a:br/>
            <a:r>
              <a:t>性別、種族都可以放進模型，而且確實有預測力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319" y="1554480"/>
            <a:ext cx="31699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[倫理上不應該]</a:t>
            </a:r>
            <a:br/>
            <a:r>
              <a:t>保險歧視 &amp; 公平性</a:t>
            </a:r>
            <a:br/>
            <a:r>
              <a:t>先天特徵不能差別定價。 公平待客原則 是金管會要求。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18" y="1554480"/>
            <a:ext cx="3169919" cy="10972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1A1A1A"/>
                </a:solidFill>
                <a:latin typeface="Noto Sans TC"/>
              </a:defRPr>
            </a:pPr>
            <a:r>
              <a:t>做法： 直接拿掉不該用的變數，或只用於內部分析不用來定價 AI 倫理不只保險： 招聘、貸款、刑事判決都面臨演算法偏見 — 你們這一代一定會遇到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三堂課總回顧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跳過 EDA 直接建模，就像不看地圖就開車 — 你可能到，但更可能迷路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先有 Benchmark，再挑戰進階模型。產險場景 Recall &gt; Accuracy</a:t>
            </a:r>
          </a:p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把分析翻譯成人話，考慮公平性。模型只是工具，決策靠人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480B"/>
                </a:solidFill>
                <a:latin typeface="Noto Sans TC"/>
              </a:defRPr>
            </a:pPr>
            <a:r>
              <a:t>Core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Noto Sans TC"/>
              </a:defRPr>
            </a:pPr>
            <a:r>
              <a:t>概念是你的， AI 只是幫你執行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B6B6B"/>
                </a:solidFill>
                <a:latin typeface="Noto Sans TC"/>
              </a:defRPr>
            </a:pPr>
            <a:r>
              <a:t>• 統計素養和商業直覺，才是你們真正的競爭力。 AI 取代不了會思考的人，只會取代不願意思考的人。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Noto Sans TC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TC"/>
              </a:defRPr>
            </a:pPr>
            <a:r>
              <a:t>謝謝大家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Noto Sans TC"/>
              </a:defRPr>
            </a:pPr>
            <a:r>
              <a:t>侯冠宇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Noto Sans TC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